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f6015bf844506" /><Relationship Type="http://schemas.openxmlformats.org/officeDocument/2006/relationships/extended-properties" Target="/docProps/app.xml" Id="R3e7039b1417e4dbe" /><Relationship Type="http://schemas.openxmlformats.org/officeDocument/2006/relationships/officeDocument" Target="/ppt/presentation.xml" Id="R368638782c58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b02f7f0834508"/>
  </p:sldMasterIdLst>
  <p:notesMasterIdLst>
    <p:notesMasterId xmlns:r="http://schemas.openxmlformats.org/officeDocument/2006/relationships" r:id="Re3096ee392fc43d3"/>
  </p:notesMasterIdLst>
  <p:sldIdLst>
    <p:sldId xmlns:r="http://schemas.openxmlformats.org/officeDocument/2006/relationships" id="256" r:id="R5817ff4619c94302"/>
    <p:sldId xmlns:r="http://schemas.openxmlformats.org/officeDocument/2006/relationships" id="257" r:id="R4e28c531e5e3403c"/>
    <p:sldId xmlns:r="http://schemas.openxmlformats.org/officeDocument/2006/relationships" id="258" r:id="R5bb43b8952ba46cc"/>
    <p:sldId xmlns:r="http://schemas.openxmlformats.org/officeDocument/2006/relationships" id="259" r:id="Rd9164399e0ea4cfb"/>
    <p:sldId xmlns:r="http://schemas.openxmlformats.org/officeDocument/2006/relationships" id="260" r:id="R4e8db1b3313d4f15"/>
    <p:sldId xmlns:r="http://schemas.openxmlformats.org/officeDocument/2006/relationships" id="261" r:id="R0c88861413d3434b"/>
    <p:sldId xmlns:r="http://schemas.openxmlformats.org/officeDocument/2006/relationships" id="262" r:id="R21b738e65e364554"/>
    <p:sldId xmlns:r="http://schemas.openxmlformats.org/officeDocument/2006/relationships" id="263" r:id="R1da585b1b15349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c0dfae696f4466" /><Relationship Type="http://schemas.openxmlformats.org/officeDocument/2006/relationships/slideMaster" Target="/ppt/slideMasters/slideMaster1.xml" Id="Rafbb02f7f0834508" /><Relationship Type="http://schemas.openxmlformats.org/officeDocument/2006/relationships/notesMaster" Target="/ppt/notesMasters/notesMaster1.xml" Id="Re3096ee392fc43d3" /><Relationship Type="http://schemas.openxmlformats.org/officeDocument/2006/relationships/presProps" Target="/ppt/presProps.xml" Id="R3fcf53598db44018" /><Relationship Type="http://schemas.openxmlformats.org/officeDocument/2006/relationships/tableStyles" Target="/ppt/tableStyles.xml" Id="R607218bd7015406c" /><Relationship Type="http://schemas.openxmlformats.org/officeDocument/2006/relationships/slide" Target="/ppt/slides/slide1.xml" Id="R5817ff4619c94302" /><Relationship Type="http://schemas.openxmlformats.org/officeDocument/2006/relationships/slide" Target="/ppt/slides/slide2.xml" Id="R4e28c531e5e3403c" /><Relationship Type="http://schemas.openxmlformats.org/officeDocument/2006/relationships/slide" Target="/ppt/slides/slide3.xml" Id="R5bb43b8952ba46cc" /><Relationship Type="http://schemas.openxmlformats.org/officeDocument/2006/relationships/slide" Target="/ppt/slides/slide4.xml" Id="Rd9164399e0ea4cfb" /><Relationship Type="http://schemas.openxmlformats.org/officeDocument/2006/relationships/slide" Target="/ppt/slides/slide5.xml" Id="R4e8db1b3313d4f15" /><Relationship Type="http://schemas.openxmlformats.org/officeDocument/2006/relationships/slide" Target="/ppt/slides/slide6.xml" Id="R0c88861413d3434b" /><Relationship Type="http://schemas.openxmlformats.org/officeDocument/2006/relationships/slide" Target="/ppt/slides/slide7.xml" Id="R21b738e65e364554" /><Relationship Type="http://schemas.openxmlformats.org/officeDocument/2006/relationships/slide" Target="/ppt/slides/slide8.xml" Id="R1da585b1b153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1b064b32045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442ca4079494d" /><Relationship Type="http://schemas.openxmlformats.org/officeDocument/2006/relationships/notesMaster" Target="/ppt/notesMasters/notesMaster1.xml" Id="R883a227af55a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d78c64377444b" /><Relationship Type="http://schemas.openxmlformats.org/officeDocument/2006/relationships/notesMaster" Target="/ppt/notesMasters/notesMaster1.xml" Id="R73c563b6ddc9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6824ac9a148fb" /><Relationship Type="http://schemas.openxmlformats.org/officeDocument/2006/relationships/notesMaster" Target="/ppt/notesMasters/notesMaster1.xml" Id="Rdc5b32a056c840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75f9556bf540b2" /><Relationship Type="http://schemas.openxmlformats.org/officeDocument/2006/relationships/notesMaster" Target="/ppt/notesMasters/notesMaster1.xml" Id="R212ca07d1be64c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f389f147284bba" /><Relationship Type="http://schemas.openxmlformats.org/officeDocument/2006/relationships/notesMaster" Target="/ppt/notesMasters/notesMaster1.xml" Id="Rf639b18ae3f9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b90694ab3b4a61" /><Relationship Type="http://schemas.openxmlformats.org/officeDocument/2006/relationships/notesMaster" Target="/ppt/notesMasters/notesMaster1.xml" Id="R1bc0dc8971e748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db28b6f03242a2" /><Relationship Type="http://schemas.openxmlformats.org/officeDocument/2006/relationships/notesMaster" Target="/ppt/notesMasters/notesMaster1.xml" Id="R71d1fc3255e04a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85600e58dc455e" /><Relationship Type="http://schemas.openxmlformats.org/officeDocument/2006/relationships/notesMaster" Target="/ppt/notesMasters/notesMaster1.xml" Id="R60c6be0a4bc6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отчёт по проектному занятию RPM PR 1 и исправленный репозиторий.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photo_1_2026-09-15_16-54-10.jpg, ручной запуск исходной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раздел 2 отчёта, анализ ветки ошибки-человечества, коммит f253bf8.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раздел 3 отчёта и коммит 6dad856 исправленной ветки.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разделы 4 и 6 отчёта. Таблица содержит расчётные показатели, описанные в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photo_2_2026-09-15_16-54-10.jpg. Результаты проверки приведены в verification.txt и разделе 5 отчёта.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photo_3_2026-09-15_16-54-10.jpg, ручная проверка с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раздел 7 и заключение отчёта. Балльная шкала введена в отчёте, так как методичка не содержит готовой шкалы.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7a25266264f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7d8dbe175a4c27" /><Relationship Type="http://schemas.openxmlformats.org/officeDocument/2006/relationships/slideLayout" Target="/ppt/slideLayouts/slideLayout1.xml" Id="R2a5f64a7f6fb4a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f64a7f6fb4a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c63afee67483a" /><Relationship Type="http://schemas.openxmlformats.org/officeDocument/2006/relationships/notesSlide" Target="/ppt/notesSlides/notesSlide1.xml" Id="R51a6e7b0c6b7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c431d2c594e55" /><Relationship Type="http://schemas.openxmlformats.org/officeDocument/2006/relationships/image" Target="/ppt/media/image.jpeg" Id="R1c808f1759da42e7" /><Relationship Type="http://schemas.openxmlformats.org/officeDocument/2006/relationships/notesSlide" Target="/ppt/notesSlides/notesSlide2.xml" Id="R3b12da1304e6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b29857a40424c" /><Relationship Type="http://schemas.openxmlformats.org/officeDocument/2006/relationships/notesSlide" Target="/ppt/notesSlides/notesSlide3.xml" Id="R2b2a33fa340541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425c8b46148c0" /><Relationship Type="http://schemas.openxmlformats.org/officeDocument/2006/relationships/notesSlide" Target="/ppt/notesSlides/notesSlide4.xml" Id="Rba152a1056b645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df4b07ef247f9" /><Relationship Type="http://schemas.openxmlformats.org/officeDocument/2006/relationships/notesSlide" Target="/ppt/notesSlides/notesSlide5.xml" Id="R6a1c7e04e96d44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1be01c9c34bee" /><Relationship Type="http://schemas.openxmlformats.org/officeDocument/2006/relationships/image" Target="/ppt/media/image2.jpeg" Id="Rce12e005814647eb" /><Relationship Type="http://schemas.openxmlformats.org/officeDocument/2006/relationships/notesSlide" Target="/ppt/notesSlides/notesSlide6.xml" Id="R6af0dc3139ba4e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c21376f564ad2" /><Relationship Type="http://schemas.openxmlformats.org/officeDocument/2006/relationships/image" Target="/ppt/media/image3.jpeg" Id="R2bed29a52c3f4a3d" /><Relationship Type="http://schemas.openxmlformats.org/officeDocument/2006/relationships/notesSlide" Target="/ppt/notesSlides/notesSlide7.xml" Id="Rcd2fdc7765ae45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817fdeb58447f" /><Relationship Type="http://schemas.openxmlformats.org/officeDocument/2006/relationships/chart" Target="/ppt/slides/charts/chart1.xml" Id="Rcc571408b57740c0" /><Relationship Type="http://schemas.openxmlformats.org/officeDocument/2006/relationships/notesSlide" Target="/ppt/notesSlides/notesSlide8.xml" Id="Re754ef0e3f31441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Баллы</c:v>
          </c:tx>
          <c:spPr>
            <a:solidFill xmlns:a="http://schemas.openxmlformats.org/drawingml/2006/main">
              <a:srgbClr val="16B8C7"/>
            </a:solidFill>
          </c:spPr>
          <c:cat>
            <c:strRef>
              <c:f>'Chart Data'!$A$2:$A$3</c:f>
              <c:strCache>
                <c:ptCount val="2"/>
                <c:pt idx="0">
                  <c:v>Исходная версия</c:v>
                </c:pt>
                <c:pt idx="1">
                  <c:v>Исправленная версия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</c:v>
                </c:pt>
                <c:pt idx="1">
                  <c:v>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48C32-1477-4C3E-80D3-A4D6BFC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25BE-0E77-4CAA-9965-6F228BED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FC656-BF20-4CA6-B0E9-4B76072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АНАЛИЗ И РЕФАКТОРИНГ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ПРОЕКТА RPM PR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601D7-1DD0-4141-A374-D689380A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DD3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DD3E8"/>
                </a:solidFill>
                <a:latin typeface="Arial"/>
                <a:ea typeface="Arial"/>
                <a:cs typeface="Arial"/>
              </a:rPr>
              <a:t>JavaFX-приложение «Учёт студентов и успеваемости»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1ABC7-628D-40DF-B8B8-12CD812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От анализа чужого кода до проверенной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3370E-C044-4B4E-8CA4-12261C0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1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62842-637A-482D-B34E-D564405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71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Выполнил: [ФИО студента]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Группа: [номер группы]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Проверил: [ФИО преподавателя]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97BA-152D-4D64-975B-255541F1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10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EB8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EB8C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69778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0509D-56A4-430E-B79D-1F12BB02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FA7A4-0E43-4458-A9BF-7C69D7C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4991D-FCC7-419A-821B-2B2318A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Назначение проекта и цель работы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E373F-5577-4721-89EF-1778AFB4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CB045-566D-450D-ACC9-A42CA0E3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B0F16-9219-4E94-95AC-9E6BFDFB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08f1759da42e7"/>
          <a:stretch xmlns:a="http://schemas.openxmlformats.org/drawingml/2006/main"/>
        </p:blipFill>
        <p:spPr>
          <a:xfrm xmlns:a="http://schemas.openxmlformats.org/drawingml/2006/main">
            <a:off x="6980941" y="1581150"/>
            <a:ext cx="3973693" cy="3905250"/>
          </a:xfrm>
          <a:prstGeom xmlns:a="http://schemas.openxmlformats.org/drawingml/2006/main" prst="roundRect">
            <a:avLst>
              <a:gd name="adj" fmla="val 34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91FF0-D6B5-4073-A613-35FD20FA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Проект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72CF6-4475-46C5-809E-F65FC19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Учёт студентов, учебных предметов, оценок и среднего балла.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D76CE-B9B7-4BFE-9753-C46CE382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0340C-7629-4E74-9A27-C58861E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JavaFX-интерфейс и FXML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1B3E-821B-4EAA-B980-0D134F9D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1BB8A-B661-487A-B101-F3795FAC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JDBC + MySQL, миграции Flyway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9092E-D36F-44FB-AF1A-0F5B9A9B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8A1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7F5F8-FC13-4B87-9691-8742855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Исходная ветка: «ошибки-человечества»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272F7-3886-4774-A66C-3A241385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C3559-42D1-45AB-9D0F-39761E2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Цель: исправить дефекты без изменения предметной логики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45641-5095-4FD4-83C3-89CD72BD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38800"/>
            <a:ext cx="5076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Исходный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120704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1047E-5FB5-47B0-9127-796D276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24505-5120-46EA-9270-3ACF979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F2EE-410F-470F-87AF-E7DD8135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Найденные ошибки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6D3AC-DE05-45E5-B1A5-3C203E78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3EDF0-20AF-484E-B4A8-C3AE8E73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86519-0D6F-4CA2-89E3-F211EB63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9B265-D709-4BE2-B2B5-249BFDA0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Проверялись реальные проявления, а не только список из методички.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58A06-A645-40F7-8FE5-7A08896A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95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F8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1ABE1-1340-4122-8CA2-5BE65C78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Функциональная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32818-0326-4D27-B071-184FAA64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4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Кнопка добавления студента вызывала другой обработчик.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5E158-129B-4071-9954-8436B1B9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00250"/>
            <a:ext cx="547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F36DD-4E68-482E-8743-29CE85C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7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8A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8A19"/>
                </a:solidFill>
                <a:latin typeface="Arial"/>
                <a:ea typeface="Arial"/>
                <a:cs typeface="Arial"/>
              </a:rPr>
              <a:t>Производительность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F12A3-BB17-407E-8AF0-7FB99B7D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Список студентов загружался дважды.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06B0D-508A-4C8B-9F1F-F4119E61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95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41A89-6E34-4795-B882-0FBC42D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Конфигурация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A6F09-617A-409E-B89C-27FCAFC3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Maven ссылался на несуществующий главный класс.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BA1DA-E400-4761-9B68-CEB717A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2750"/>
            <a:ext cx="547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85845-00AA-45AC-BF5C-D1192BA4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8A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8A19"/>
                </a:solidFill>
                <a:latin typeface="Arial"/>
                <a:ea typeface="Arial"/>
                <a:cs typeface="Arial"/>
              </a:rPr>
              <a:t>Отзывчивость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299FE-F11E-4142-82A7-2166F27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766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JDBC выполнялся в JavaFX Application Thread.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A4DF4-94F2-46BB-A3E7-7290246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095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F8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1431C-3511-4DC1-B19E-E103EE75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9D0E8-0C0B-4071-92EC-6DCC1B0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Учётные данные MySQL хранились в коде и pom.xml.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8AE36-DE17-4C54-8A39-B9BE25EF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05250"/>
            <a:ext cx="547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982DD-35AA-451A-809A-F9CA8312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8A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8A19"/>
                </a:solidFill>
                <a:latin typeface="Arial"/>
                <a:ea typeface="Arial"/>
                <a:cs typeface="Arial"/>
              </a:rPr>
              <a:t>Надёжность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5F7BF-B6A6-43ED-88ED-63AFB05D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291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SQLException только печатался в консоль.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93455-6C10-4B16-A879-87C5FB90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095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D0BAC-7ADF-45A2-9807-EFF1E597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E9407-8FB3-40D6-ACB1-803ED38D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Допускались оценки вне диапазона 1–5.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57C1B-5AF6-434A-B08B-A9C3849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57750"/>
            <a:ext cx="547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4F919-3A67-406D-B1F2-9029960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933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8A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8A19"/>
                </a:solidFill>
                <a:latin typeface="Arial"/>
                <a:ea typeface="Arial"/>
                <a:cs typeface="Arial"/>
              </a:rPr>
              <a:t>Масштабирование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8BBAA-1A08-490C-B6FC-04BB8801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816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Загружался весь список без пагинации.</a:t>
            </a:r>
          </a:p>
        </p:txBody>
      </p:sp>
    </p:spTree>
    <p:extLst>
      <p:ext uri="{BB962C8B-B14F-4D97-AF65-F5344CB8AC3E}">
        <p14:creationId xmlns:p14="http://schemas.microsoft.com/office/powerpoint/2010/main" val="1295590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CAD109-DC54-44C2-AAAF-804E88B6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0A825-4C4E-4DAD-B605-80FC1425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A2282-A5F8-4302-B1B5-D3A4BD7B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Выполненный рефакторинг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BEE8B-135F-4C67-8C1E-B6C35EC7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478FE-2DD5-4D9E-93D0-0607D291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81984-A661-4B8F-A832-13EA88D8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AF348-DE17-4D65-A454-252F4ADE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Исправление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EA9DE-365D-4E94-A28D-FCB04F9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04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5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872B6-5A1B-4280-AE3B-8115D34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Неверный FXML-обработчик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9A444-7DC1-449C-B7EE-42D3BB97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240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8F93A-7D43-49B7-ADDA-EEE17B0B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handleAddStudent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85D3B-E38F-49F7-AA7A-F91BDA9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F7565-4C80-4517-B785-1B64C901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Ошибочная точка входа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00E91-D9F3-4743-AFDE-1C1CE78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AFCAA-CB40-4806-B5B2-0EE7FE1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Launcher в javafx-maven-plugin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C31BC-C41C-47D3-B456-6BB258F1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45829-54CD-43B3-B37F-E301942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Секреты в исходниках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F84A0-8773-4101-A502-3BEEFDC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813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5D523-F00E-4D46-9AAF-D9E75FCF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813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Свойства / переменные окружения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52F1B-544C-4FDB-B691-E7A45BB4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31321-F524-4D7B-9BBD-C1DBAD7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Разрозненные поля модели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9376D-32EE-40C3-8A50-E2BC3BE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853A2-1692-4B69-921E-C5310695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StudentIdentity и GradeValue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70F76-0FB8-418E-BF88-1D48097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9EC60-3B12-4CD2-8116-1B900A0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Повторение маппинга JDBC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20E81-546C-4900-A879-633800E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4574A-5C66-4728-BAD7-9EECFAC3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mapStudent и mapSubject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78AB3-3243-49CE-8626-C8ABC962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E89AF-FD21-4783-93D8-702FA80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Потеря ошибок DAO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F722A-D8DA-4065-85A1-2822A8C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D046E-7E4B-402E-9101-073AA1AD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DataAccessException + сообщение в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37FD34-3C6D-478B-8F74-0FF738C3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264D6B-389E-425A-A929-D73CA72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24050"/>
            <a:ext cx="1504950" cy="36385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6B37F1-6DB6-4A19-B9D8-9D92A211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00300"/>
            <a:ext cx="1123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6E189B-A266-40FB-9183-74BE331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575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ключевых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приёмов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CDDDC4-DB16-49BE-8177-B799759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131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5D7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7E7"/>
                </a:solidFill>
                <a:latin typeface="Arial"/>
                <a:ea typeface="Arial"/>
                <a:cs typeface="Arial"/>
              </a:rPr>
              <a:t>Rename</a:t>
            </a:r>
          </a:p>
          <a:p xmlns:a="http://schemas.openxmlformats.org/drawingml/2006/main">
            <a:pPr algn="ctr">
              <a:defRPr sz="1200" b="0">
                <a:solidFill>
                  <a:srgbClr val="C5D7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7E7"/>
                </a:solidFill>
                <a:latin typeface="Arial"/>
                <a:ea typeface="Arial"/>
                <a:cs typeface="Arial"/>
              </a:rPr>
              <a:t>Extract Class</a:t>
            </a:r>
          </a:p>
          <a:p xmlns:a="http://schemas.openxmlformats.org/drawingml/2006/main">
            <a:pPr algn="ctr">
              <a:defRPr sz="1200" b="0">
                <a:solidFill>
                  <a:srgbClr val="C5D7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7E7"/>
                </a:solidFill>
                <a:latin typeface="Arial"/>
                <a:ea typeface="Arial"/>
                <a:cs typeface="Arial"/>
              </a:rPr>
              <a:t>Introduce Constant</a:t>
            </a:r>
          </a:p>
          <a:p xmlns:a="http://schemas.openxmlformats.org/drawingml/2006/main">
            <a:pPr algn="ctr">
              <a:defRPr sz="1200" b="0">
                <a:solidFill>
                  <a:srgbClr val="C5D7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7E7"/>
                </a:solidFill>
                <a:latin typeface="Arial"/>
                <a:ea typeface="Arial"/>
                <a:cs typeface="Arial"/>
              </a:rPr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309364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511DF-F6CB-4987-AFC5-0889948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F4FA4-C1E4-464F-9B95-B944C37F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ПРОИЗВОДИТЕЛЬНОСТЬ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ED809-E7A6-406C-9191-C8B40AFD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Оптимизация и масштабирование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5D33D-5C55-4809-B3E9-DEB9C734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347EB-C113-49EA-98AF-B505470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19175-995B-4ECF-9262-0D6DF342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Эффект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Обновление экрана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 запроса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8A65"/>
                          </a:solidFill>
                          <a:latin typeface="Arial"/>
                          <a:ea typeface="Arial"/>
                          <a:cs typeface="Arial"/>
                        </a:rPr>
                        <a:t>2 запроса</a:t>
                      </a:r>
                    </a:p>
                  </a:txBody>
                  <a:tcPr marL="114300" marR="114300" marT="76200" marB="76200" anchor="ctr"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−33% обращений</a:t>
                      </a:r>
                    </a:p>
                  </a:txBody>
                  <a:tcPr marL="114300" marR="114300" marT="76200" marB="762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1000 студентов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до 2000 строк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8A65"/>
                          </a:solidFill>
                          <a:latin typeface="Arial"/>
                          <a:ea typeface="Arial"/>
                          <a:cs typeface="Arial"/>
                        </a:rPr>
                        <a:t>25 строк</a:t>
                      </a:r>
                    </a:p>
                  </a:txBody>
                  <a:tcPr marL="114300" marR="114300" marT="76200" marB="76200" anchor="ctr"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в 80 раз меньше</a:t>
                      </a:r>
                    </a:p>
                  </a:txBody>
                  <a:tcPr marL="114300" marR="114300" marT="76200" marB="762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JDBC в UI-потоке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все операции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8A65"/>
                          </a:solidFill>
                          <a:latin typeface="Arial"/>
                          <a:ea typeface="Arial"/>
                          <a:cs typeface="Arial"/>
                        </a:rPr>
                        <a:t>0 операций</a:t>
                      </a:r>
                    </a:p>
                  </a:txBody>
                  <a:tcPr marL="114300" marR="114300" marT="76200" marB="76200" anchor="ctr"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окно не блокируется</a:t>
                      </a:r>
                    </a:p>
                  </a:txBody>
                  <a:tcPr marL="114300" marR="114300" marT="76200" marB="762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Настройки БД в Git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 места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8A65"/>
                          </a:solidFill>
                          <a:latin typeface="Arial"/>
                          <a:ea typeface="Arial"/>
                          <a:cs typeface="Arial"/>
                        </a:rPr>
                        <a:t>0 мест</a:t>
                      </a:r>
                    </a:p>
                  </a:txBody>
                  <a:tcPr marL="114300" marR="114300" marT="76200" marB="76200" anchor="ctr"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секреты исключены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58EE6-AFE6-4AC7-8740-D4187045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Дополнительно: пагинация LIMIT/OFFSET по 25 записей, кэш предметов и составные индексы для grades.</a:t>
            </a:r>
          </a:p>
        </p:txBody>
      </p:sp>
    </p:spTree>
    <p:extLst>
      <p:ext uri="{BB962C8B-B14F-4D97-AF65-F5344CB8AC3E}">
        <p14:creationId xmlns:p14="http://schemas.microsoft.com/office/powerpoint/2010/main" val="412376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B3E6D-B1CA-46DA-92E1-BEE2800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B9835-D67A-45BC-A242-197D8609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4D009-1EA7-41A8-85A6-4BB7A976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Доказательство сохранения логики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92143-51F8-461A-B420-EF1F1CEB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730AD-68A6-4803-93CC-1D69CFAF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0AD84-EBA5-4FA8-949B-873ECCE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2e005814647eb"/>
          <a:stretch xmlns:a="http://schemas.openxmlformats.org/drawingml/2006/main"/>
        </p:blipFill>
        <p:spPr>
          <a:xfrm xmlns:a="http://schemas.openxmlformats.org/drawingml/2006/main">
            <a:off x="1753129" y="1562100"/>
            <a:ext cx="4770967" cy="4191000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75A0C-54D4-4858-8669-9477DCE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Проверено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926E9-DA21-4FC3-8B7E-30618961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62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B1565-89C1-48E9-B0D7-C02CC69D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Maven-сборка — успешно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B7EFD-D2C0-4B67-976F-8B2A84B1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52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7E5FA-79FA-4B7D-9A4F-C7CFDD8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MODEL_SMOKE_TEST_OK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56496-67CE-4166-8404-F7C9F889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3AFDC-1B6D-490B-97DC-706C3EEA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5 FXML-обработчиков найдены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EC1CC-AA68-4A30-9CD6-B5CA157E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CB5D5-EAF5-40B3-AA46-5804CB48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03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MySQL: чтение, добавление, оценка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19F10-866A-41BA-9CC3-478AE9BD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20B57-AE24-4A74-8F60-D0A302D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AVG и LEFT JOIN сохранены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550CA-4810-4800-84C4-74C19688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190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0CCD0-BE9C-4208-A7D9-64CC314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95900"/>
            <a:ext cx="2886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63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Предметные операции не удалены</a:t>
            </a:r>
          </a:p>
        </p:txBody>
      </p:sp>
    </p:spTree>
    <p:extLst>
      <p:ext uri="{BB962C8B-B14F-4D97-AF65-F5344CB8AC3E}">
        <p14:creationId xmlns:p14="http://schemas.microsoft.com/office/powerpoint/2010/main" val="1381137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B8553-0FC5-4AA9-838A-5BE91751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E84EB-E541-48A0-AF44-6A69F4E5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594DE-BE97-48E9-9AEE-C0C0C0D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Результат ручной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20BA-975A-45FD-A889-467F70A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0A19-7F0A-49CA-AA1C-7AC79ACD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71D7E-A55A-4D43-8ED7-AA4C2DA8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d29a52c3f4a3d"/>
          <a:stretch xmlns:a="http://schemas.openxmlformats.org/drawingml/2006/main"/>
        </p:blipFill>
        <p:spPr>
          <a:xfrm xmlns:a="http://schemas.openxmlformats.org/drawingml/2006/main">
            <a:off x="1642510" y="1562100"/>
            <a:ext cx="4801706" cy="4238625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511E8-355F-4B1C-879E-10F4B64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CAF2A-CE04-4824-B068-DC9AFF1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6915B-D8E8-4679-8B8C-715FD0F4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15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Записей на странице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7C7B9-D831-4664-99BF-F3CD6E24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57350"/>
            <a:ext cx="1790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7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78E2F-4E25-42FE-B7D8-2207023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81175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8A6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821E3-F1BD-437A-A600-2348CCD0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24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Ошибок при пустом результате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8CB3A-8950-4FBB-90AF-15E9FD06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Корректно работает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4E06C-3186-4B32-96ED-775D59F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B189D-E19C-4161-9C84-2644046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пустая выборка из БД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4211F-621E-4174-81E3-8815E20A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00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5258A-2389-4C47-8DAA-1A5CB9FA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блокировка кнопок пагинации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FB833-6D94-404E-9236-933D5B1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52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DB290-A12B-4ECB-80A8-87B196C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индикатор фоновой операции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0504C-933A-492E-AE03-EF1046F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05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2D206-A989-4157-855A-0FBAE2E1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0065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добавление студента и предмета</a:t>
            </a:r>
          </a:p>
        </p:txBody>
      </p:sp>
    </p:spTree>
    <p:extLst>
      <p:ext uri="{BB962C8B-B14F-4D97-AF65-F5344CB8AC3E}">
        <p14:creationId xmlns:p14="http://schemas.microsoft.com/office/powerpoint/2010/main" val="1177210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E3F1E-F45C-4B17-9E0A-CEB9ED8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5A0CF-9BDF-4232-AF16-BF454DF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C7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99EE-4971-4AFF-82C8-73A4CF8F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Итоговая оценка и заключение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A0BF-2080-4095-A767-BA0C9F4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E965-6394-4269-8E56-D18E0C0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F7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499B5-A194-4FAA-BDEE-B47B0AA5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F7F"/>
                </a:solidFill>
                <a:latin typeface="Arial"/>
                <a:ea typeface="Arial"/>
                <a:cs typeface="Arial"/>
              </a:rPr>
              <a:t>RPM PR 1 · анализ и рефакторинг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571408b57740c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76AB1-ECA8-44CB-AB4A-A276200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52/100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A38F5-9D99-4DCB-9265-86894621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A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8A65"/>
                </a:solidFill>
                <a:latin typeface="Arial"/>
                <a:ea typeface="Arial"/>
                <a:cs typeface="Arial"/>
              </a:rPr>
              <a:t>94/100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ADB41-B1E2-4532-9031-E1D89860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3624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69B6B-3761-4216-B569-28D7B76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81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ADDA0-38EC-4774-99C9-7099B89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52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698AF-9432-4BDD-8C22-F910851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устранены реальные дефекты запуска и интерфейса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86FAF-1954-480A-B0A9-A084F8A5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8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B1BBF-E51F-4224-A4BC-7A069D9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запросы вынесены из JavaFX-потока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768B5-1F81-47E0-9E33-88934CB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BD08F-9BA0-447E-A791-2ECA2F76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добавлены валидация, пагинация и индексы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55465-2F96-408E-B845-2EC090D0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10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096D2-644C-4FDB-B6BB-BE515434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логика подтверждена сборкой и ручным тестом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DA64B-4373-4320-8A97-2001FC76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A6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8A65"/>
                </a:solidFill>
                <a:latin typeface="Arial"/>
                <a:ea typeface="Arial"/>
                <a:cs typeface="Arial"/>
              </a:rPr>
              <a:t>+42 балла</a:t>
            </a:r>
          </a:p>
        </p:txBody>
      </p:sp>
    </p:spTree>
    <p:extLst>
      <p:ext uri="{BB962C8B-B14F-4D97-AF65-F5344CB8AC3E}">
        <p14:creationId xmlns:p14="http://schemas.microsoft.com/office/powerpoint/2010/main" val="1585114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2026-09-18T06:42:43.4140000Z</dcterms:created>
  <dcterms:modified xsi:type="dcterms:W3CDTF">2026-09-18T06:42:43.4140000Z</dcterms:modified>
</coreProperties>
</file>